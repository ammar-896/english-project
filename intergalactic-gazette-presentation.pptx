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c47e37c-b506-b3a0-229c-4264233c38e9}">
          <p14:sldIdLst>
            <p14:sldId id="256"/>
            <p14:sldId id="257"/>
          </p14:sldIdLst>
        </p14:section>
        <p14:section name="The edition" id="{219df57f-91ca-900e-bd1b-48b9c8dcad9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ethod and judgement" id="{95bc6e18-0749-7b26-be78-ec661f833476}">
          <p14:sldIdLst>
            <p14:sldId id="264"/>
            <p14:sldId id="265"/>
          </p14:sldIdLst>
        </p14:section>
        <p14:section name="Close" id="{34c93f7e-8efa-bef0-47ff-1eaeff40bac4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87782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i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The Intergalactic Gazette  ·  Social Approval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822960" y="1280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YEAR 9 ENGLISH  ·  9B–C  ·  OCTOBER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178308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chemeClr val="bg1"/>
                </a:solidFill>
              </a:rPr>
              <a:t>The Intergalactic Gazette</a:t>
            </a:r>
            <a:endParaRPr lang="en-US" sz="6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77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issue, five voices: social approval through The Little Prince</a:t>
            </a:r>
            <a:endParaRPr lang="en-US" sz="2200" dirty="0"/>
          </a:p>
        </p:txBody>
      </p:sp>
      <p:sp>
        <p:nvSpPr>
          <p:cNvPr id="5" name="Team names"/>
          <p:cNvSpPr txBox="1"/>
          <p:nvPr/>
        </p:nvSpPr>
        <p:spPr>
          <a:xfrm>
            <a:off x="822960" y="5669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Ammar Rabie (Group Leader)  ·  Yehia Islam  ·  Yousif Omar  ·  Maher Shareef  ·  Salman Ahmad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PROJECT BRIEF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Our big question</a:t>
            </a:r>
            <a:endParaRPr lang="en-US" sz="3600" dirty="0"/>
          </a:p>
        </p:txBody>
      </p:sp>
      <p:sp>
        <p:nvSpPr>
          <p:cNvPr id="4" name="Big question"/>
          <p:cNvSpPr txBox="1"/>
          <p:nvPr/>
        </p:nvSpPr>
        <p:spPr>
          <a:xfrm>
            <a:off x="640080" y="1920240"/>
            <a:ext cx="8503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</a:t>
            </a:r>
            <a:pPr indent="0" marL="0">
              <a:buNone/>
            </a:pPr>
            <a:r>
              <a:rPr lang="en-US" sz="4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Little Prince</a:t>
            </a:r>
            <a:pPr indent="0" marL="0">
              <a:buNone/>
            </a:pPr>
            <a:r>
              <a:rPr lang="en-US" sz="4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challenge what society values, and how far do we agree?</a:t>
            </a:r>
            <a:endParaRPr lang="en-US" sz="4400" dirty="0"/>
          </a:p>
        </p:txBody>
      </p:sp>
      <p:sp>
        <p:nvSpPr>
          <p:cNvPr id="5" name="Star"/>
          <p:cNvSpPr/>
          <p:nvPr/>
        </p:nvSpPr>
        <p:spPr>
          <a:xfrm>
            <a:off x="9784080" y="2103120"/>
            <a:ext cx="1737360" cy="173736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ar"/>
          <p:cNvSpPr/>
          <p:nvPr/>
        </p:nvSpPr>
        <p:spPr>
          <a:xfrm>
            <a:off x="10972800" y="3931920"/>
            <a:ext cx="502920" cy="502920"/>
          </a:xfrm>
          <a:prstGeom prst="star4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ask note"/>
          <p:cNvSpPr txBox="1"/>
          <p:nvPr/>
        </p:nvSpPr>
        <p:spPr>
          <a:xfrm>
            <a:off x="640080" y="51206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Our task: investigate what the book teaches us about a problem in modern society, and publish one 360° newspaper edition.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OUR SET-UP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decisions, made together</a:t>
            </a:r>
            <a:endParaRPr lang="en-US" sz="3600" dirty="0"/>
          </a:p>
        </p:txBody>
      </p:sp>
      <p:sp>
        <p:nvSpPr>
          <p:cNvPr id="4" name="Decision card 1"/>
          <p:cNvSpPr/>
          <p:nvPr/>
        </p:nvSpPr>
        <p:spPr>
          <a:xfrm>
            <a:off x="640080" y="1737360"/>
            <a:ext cx="3447288" cy="3566160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tar"/>
          <p:cNvSpPr/>
          <p:nvPr/>
        </p:nvSpPr>
        <p:spPr>
          <a:xfrm>
            <a:off x="960120" y="2057400"/>
            <a:ext cx="457200" cy="45720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journalists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One shared edition, and every member writes their own article.</a:t>
            </a:r>
            <a:endParaRPr lang="en-US" sz="1600" dirty="0"/>
          </a:p>
        </p:txBody>
      </p:sp>
      <p:sp>
        <p:nvSpPr>
          <p:cNvPr id="9" name="Decision card 2"/>
          <p:cNvSpPr/>
          <p:nvPr/>
        </p:nvSpPr>
        <p:spPr>
          <a:xfrm>
            <a:off x="4361688" y="1737360"/>
            <a:ext cx="3447288" cy="3566160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tar"/>
          <p:cNvSpPr/>
          <p:nvPr/>
        </p:nvSpPr>
        <p:spPr>
          <a:xfrm>
            <a:off x="4681728" y="2057400"/>
            <a:ext cx="457200" cy="45720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1728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ISSUE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approval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Why we crave praise and likes, seen through the conceited man’s planet.</a:t>
            </a:r>
            <a:endParaRPr lang="en-US" sz="1600" dirty="0"/>
          </a:p>
        </p:txBody>
      </p:sp>
      <p:sp>
        <p:nvSpPr>
          <p:cNvPr id="14" name="Decision card 3"/>
          <p:cNvSpPr/>
          <p:nvPr/>
        </p:nvSpPr>
        <p:spPr>
          <a:xfrm>
            <a:off x="8083296" y="1737360"/>
            <a:ext cx="3447288" cy="3566160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tar"/>
          <p:cNvSpPr/>
          <p:nvPr/>
        </p:nvSpPr>
        <p:spPr>
          <a:xfrm>
            <a:off x="8403336" y="2057400"/>
            <a:ext cx="457200" cy="45720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EDITORIAL APPROACH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columnist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4069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We comment on a problem in society and link it back to the book.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EDITION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One issue, five angles</a:t>
            </a:r>
            <a:endParaRPr lang="en-US" sz="3600" dirty="0"/>
          </a:p>
        </p:txBody>
      </p:sp>
      <p:sp>
        <p:nvSpPr>
          <p:cNvPr id="4" name="Article row 1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91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Problem: “Are We Living For Likes?”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Yousif Omar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modern problem</a:t>
            </a:r>
            <a:endParaRPr lang="en-US" sz="1200" dirty="0"/>
          </a:p>
        </p:txBody>
      </p:sp>
      <p:sp>
        <p:nvSpPr>
          <p:cNvPr id="9" name="Article row 2"/>
          <p:cNvSpPr/>
          <p:nvPr/>
        </p:nvSpPr>
        <p:spPr>
          <a:xfrm>
            <a:off x="640080" y="2587752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258775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8775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Conceited Man: The Need for Approval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Maher Shareef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3008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author’s criticism</a:t>
            </a:r>
            <a:endParaRPr lang="en-US" sz="1200" dirty="0"/>
          </a:p>
        </p:txBody>
      </p:sp>
      <p:sp>
        <p:nvSpPr>
          <p:cNvPr id="14" name="Article row 3"/>
          <p:cNvSpPr/>
          <p:nvPr/>
        </p:nvSpPr>
        <p:spPr>
          <a:xfrm>
            <a:off x="640080" y="3483864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348386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48386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Approval: The Psychological Trap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575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Yehia Islam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904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psychological trap</a:t>
            </a:r>
            <a:endParaRPr lang="en-US" sz="1200" dirty="0"/>
          </a:p>
        </p:txBody>
      </p:sp>
      <p:sp>
        <p:nvSpPr>
          <p:cNvPr id="19" name="Article row 4"/>
          <p:cNvSpPr/>
          <p:nvPr/>
        </p:nvSpPr>
        <p:spPr>
          <a:xfrm>
            <a:off x="640080" y="4379976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37997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37997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Of Approval: Is A Little Social-Approval Really That Bad?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4471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Ammar Rabie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counter-perspective</a:t>
            </a:r>
            <a:endParaRPr lang="en-US" sz="1200" dirty="0"/>
          </a:p>
        </p:txBody>
      </p:sp>
      <p:sp>
        <p:nvSpPr>
          <p:cNvPr id="24" name="Article row 5"/>
          <p:cNvSpPr/>
          <p:nvPr/>
        </p:nvSpPr>
        <p:spPr>
          <a:xfrm>
            <a:off x="640080" y="5276088"/>
            <a:ext cx="10881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527608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52760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Roadmap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367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Salman Ahmad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696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Coming soon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ARTICLE 1  ·  YOUSIF OMAR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modern problem</a:t>
            </a:r>
            <a:endParaRPr lang="en-US" sz="3600" dirty="0"/>
          </a:p>
        </p:txBody>
      </p:sp>
      <p:sp>
        <p:nvSpPr>
          <p:cNvPr id="4" name="Quote card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Conceited men only hear praise.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Little Prince, Antoine de Saint-Exupéry</a:t>
            </a:r>
            <a:endParaRPr lang="en-US" sz="1400" dirty="0"/>
          </a:p>
        </p:txBody>
      </p:sp>
      <p:sp>
        <p:nvSpPr>
          <p:cNvPr id="8" name="Star"/>
          <p:cNvSpPr/>
          <p:nvPr/>
        </p:nvSpPr>
        <p:spPr>
          <a:xfrm>
            <a:off x="6263640" y="1828800"/>
            <a:ext cx="292608" cy="292608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Chasing praise and digital likes is eating into our productivity and attention spans.</a:t>
            </a:r>
            <a:endParaRPr lang="en-US" sz="1800" dirty="0"/>
          </a:p>
        </p:txBody>
      </p:sp>
      <p:sp>
        <p:nvSpPr>
          <p:cNvPr id="10" name="Star"/>
          <p:cNvSpPr/>
          <p:nvPr/>
        </p:nvSpPr>
        <p:spPr>
          <a:xfrm>
            <a:off x="6263640" y="3200400"/>
            <a:ext cx="292608" cy="292608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31546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“Only hear” shows how constantly the conceited man craves admiration.</a:t>
            </a:r>
            <a:endParaRPr lang="en-US" sz="1800" dirty="0"/>
          </a:p>
        </p:txBody>
      </p:sp>
      <p:sp>
        <p:nvSpPr>
          <p:cNvPr id="12" name="Star"/>
          <p:cNvSpPr/>
          <p:nvPr/>
        </p:nvSpPr>
        <p:spPr>
          <a:xfrm>
            <a:off x="6263640" y="4572000"/>
            <a:ext cx="292608" cy="292608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4526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Social media works the same way, prompting us to seek approval through likes, followers and comments.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ARTICLE 2  ·  MAHER SHAREEF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author’s criticism</a:t>
            </a:r>
            <a:endParaRPr lang="en-US" sz="3600" dirty="0"/>
          </a:p>
        </p:txBody>
      </p:sp>
      <p:sp>
        <p:nvSpPr>
          <p:cNvPr id="4" name="Step card 1"/>
          <p:cNvSpPr/>
          <p:nvPr/>
        </p:nvSpPr>
        <p:spPr>
          <a:xfrm>
            <a:off x="640080" y="1737360"/>
            <a:ext cx="3355848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asks for applause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conceited man asks the Little Prince to clap so he can bow and lift his hat.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4050792" y="2788920"/>
            <a:ext cx="30175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card 2"/>
          <p:cNvSpPr/>
          <p:nvPr/>
        </p:nvSpPr>
        <p:spPr>
          <a:xfrm>
            <a:off x="4407408" y="1737360"/>
            <a:ext cx="3355848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1728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wants to be admired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0175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He enjoys the praise but never asks whether he deserves it.</a:t>
            </a:r>
            <a:endParaRPr lang="en-US" sz="1500" dirty="0"/>
          </a:p>
        </p:txBody>
      </p:sp>
      <p:sp>
        <p:nvSpPr>
          <p:cNvPr id="13" name="Arrow"/>
          <p:cNvSpPr/>
          <p:nvPr/>
        </p:nvSpPr>
        <p:spPr>
          <a:xfrm>
            <a:off x="7818120" y="2788920"/>
            <a:ext cx="301752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card 3"/>
          <p:cNvSpPr/>
          <p:nvPr/>
        </p:nvSpPr>
        <p:spPr>
          <a:xfrm>
            <a:off x="8174736" y="1737360"/>
            <a:ext cx="3355848" cy="237744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49056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never connects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30175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He shows little interest in the Little Prince, so no real friendship forms.</a:t>
            </a:r>
            <a:endParaRPr lang="en-US" sz="1500" dirty="0"/>
          </a:p>
        </p:txBody>
      </p:sp>
      <p:sp>
        <p:nvSpPr>
          <p:cNvPr id="18" name="Takeaway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01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TAKEAWAY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Vanity can stop people forming real connections. Real value comes from character, actions and relationships, not attention.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ARTICLE 3  ·  YEHIA ISLAM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psychological trap</a:t>
            </a:r>
            <a:endParaRPr lang="en-US" sz="3600" dirty="0"/>
          </a:p>
        </p:txBody>
      </p:sp>
      <p:sp>
        <p:nvSpPr>
          <p:cNvPr id="4" name="Character 1"/>
          <p:cNvSpPr/>
          <p:nvPr/>
        </p:nvSpPr>
        <p:spPr>
          <a:xfrm>
            <a:off x="640080" y="1737360"/>
            <a:ext cx="32918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Real life 1"/>
          <p:cNvSpPr/>
          <p:nvPr/>
        </p:nvSpPr>
        <p:spPr>
          <a:xfrm>
            <a:off x="4572000" y="1737360"/>
            <a:ext cx="69494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7373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Wants to control everything: the pull of power</a:t>
            </a:r>
            <a:endParaRPr lang="en-US" sz="1800" dirty="0"/>
          </a:p>
        </p:txBody>
      </p:sp>
      <p:sp>
        <p:nvSpPr>
          <p:cNvPr id="8" name="Arrow"/>
          <p:cNvSpPr/>
          <p:nvPr/>
        </p:nvSpPr>
        <p:spPr>
          <a:xfrm>
            <a:off x="4069080" y="2039112"/>
            <a:ext cx="36576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haracter 2"/>
          <p:cNvSpPr/>
          <p:nvPr/>
        </p:nvSpPr>
        <p:spPr>
          <a:xfrm>
            <a:off x="640080" y="2788920"/>
            <a:ext cx="32918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Real life 2"/>
          <p:cNvSpPr/>
          <p:nvPr/>
        </p:nvSpPr>
        <p:spPr>
          <a:xfrm>
            <a:off x="4572000" y="2788920"/>
            <a:ext cx="69494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businessman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889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Is obsessed with owning stars: the pull of money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4069080" y="3090672"/>
            <a:ext cx="36576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haracter 3"/>
          <p:cNvSpPr/>
          <p:nvPr/>
        </p:nvSpPr>
        <p:spPr>
          <a:xfrm>
            <a:off x="640080" y="3840480"/>
            <a:ext cx="32918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Real life 3"/>
          <p:cNvSpPr/>
          <p:nvPr/>
        </p:nvSpPr>
        <p:spPr>
          <a:xfrm>
            <a:off x="4572000" y="3840480"/>
            <a:ext cx="69494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840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vain man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8404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Always wants to be admired: the pull of what others think</a:t>
            </a:r>
            <a:endParaRPr lang="en-US" sz="1800" dirty="0"/>
          </a:p>
        </p:txBody>
      </p:sp>
      <p:sp>
        <p:nvSpPr>
          <p:cNvPr id="18" name="Arrow"/>
          <p:cNvSpPr/>
          <p:nvPr/>
        </p:nvSpPr>
        <p:spPr>
          <a:xfrm>
            <a:off x="4069080" y="4142232"/>
            <a:ext cx="36576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let society decide what makes us happy. Focus on our values, our friendships and the people who truly care about us.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ARTICLE 4  ·  AMMAR RABIE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Is a little approval really that bad?</a:t>
            </a:r>
            <a:endParaRPr lang="en-US" sz="3600" dirty="0"/>
          </a:p>
        </p:txBody>
      </p:sp>
      <p:sp>
        <p:nvSpPr>
          <p:cNvPr id="4" name="Evidence card 1"/>
          <p:cNvSpPr/>
          <p:nvPr/>
        </p:nvSpPr>
        <p:spPr>
          <a:xfrm>
            <a:off x="640080" y="1737360"/>
            <a:ext cx="5303520" cy="3108960"/>
          </a:xfrm>
          <a:prstGeom prst="roundRect">
            <a:avLst>
              <a:gd name="adj" fmla="val 35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EVIDENCE  ·  THE BOOK, CHAPTER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astronomer was ignored in traditional clothes, but “this time everybody believed him” once he dressed in European attire.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Without some social approval, truth and brilliance can be ignored.</a:t>
            </a:r>
            <a:endParaRPr lang="en-US" sz="1500" dirty="0"/>
          </a:p>
        </p:txBody>
      </p:sp>
      <p:sp>
        <p:nvSpPr>
          <p:cNvPr id="8" name="Evidence card 2"/>
          <p:cNvSpPr/>
          <p:nvPr/>
        </p:nvSpPr>
        <p:spPr>
          <a:xfrm>
            <a:off x="6217920" y="1737360"/>
            <a:ext cx="5303520" cy="3108960"/>
          </a:xfrm>
          <a:prstGeom prst="roundRect">
            <a:avLst>
              <a:gd name="adj" fmla="val 35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EVIDENCE  ·  RESEARCH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774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American Psychological Association: positive praise is needed for healthy mental health.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So approval is a practical tool for respect, not a moral weakness.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mindless internet clout is a trap, but we all need a little recognition to stay connected.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OUR METHOD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we built each argument</a:t>
            </a:r>
            <a:endParaRPr lang="en-US" sz="3600" dirty="0"/>
          </a:p>
        </p:txBody>
      </p:sp>
      <p:sp>
        <p:nvSpPr>
          <p:cNvPr id="4" name="Step 1"/>
          <p:cNvSpPr/>
          <p:nvPr/>
        </p:nvSpPr>
        <p:spPr>
          <a:xfrm>
            <a:off x="640080" y="1737360"/>
            <a:ext cx="2029968" cy="310896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Letter disc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POINT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Society is obsessed with praise and likes, and it costs us attention.</a:t>
            </a:r>
            <a:endParaRPr lang="en-US" sz="1500" dirty="0"/>
          </a:p>
        </p:txBody>
      </p:sp>
      <p:sp>
        <p:nvSpPr>
          <p:cNvPr id="9" name="Step 2"/>
          <p:cNvSpPr/>
          <p:nvPr/>
        </p:nvSpPr>
        <p:spPr>
          <a:xfrm>
            <a:off x="2852928" y="1975104"/>
            <a:ext cx="2029968" cy="310896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Letter disc"/>
          <p:cNvSpPr/>
          <p:nvPr/>
        </p:nvSpPr>
        <p:spPr>
          <a:xfrm>
            <a:off x="3081528" y="220370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81528" y="2203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EVIDENCE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3346704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“Conceited men only hear praise.”</a:t>
            </a:r>
            <a:endParaRPr lang="en-US" sz="1500" dirty="0"/>
          </a:p>
        </p:txBody>
      </p:sp>
      <p:sp>
        <p:nvSpPr>
          <p:cNvPr id="14" name="Step 3"/>
          <p:cNvSpPr/>
          <p:nvPr/>
        </p:nvSpPr>
        <p:spPr>
          <a:xfrm>
            <a:off x="5065776" y="2212848"/>
            <a:ext cx="2029968" cy="310896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Letter disc"/>
          <p:cNvSpPr/>
          <p:nvPr/>
        </p:nvSpPr>
        <p:spPr>
          <a:xfrm>
            <a:off x="5294376" y="244144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94376" y="2441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EXPLAIN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94376" y="3584448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“Only hear” stresses his constant hunger for admiration.</a:t>
            </a:r>
            <a:endParaRPr lang="en-US" sz="1500" dirty="0"/>
          </a:p>
        </p:txBody>
      </p:sp>
      <p:sp>
        <p:nvSpPr>
          <p:cNvPr id="19" name="Step 4"/>
          <p:cNvSpPr/>
          <p:nvPr/>
        </p:nvSpPr>
        <p:spPr>
          <a:xfrm>
            <a:off x="7278624" y="2450592"/>
            <a:ext cx="2029968" cy="310896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Letter disc"/>
          <p:cNvSpPr/>
          <p:nvPr/>
        </p:nvSpPr>
        <p:spPr>
          <a:xfrm>
            <a:off x="7507224" y="26791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07224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07224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EXPLORE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07224" y="3822192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same pull drives social media: likes, followers, comments.</a:t>
            </a:r>
            <a:endParaRPr lang="en-US" sz="1500" dirty="0"/>
          </a:p>
        </p:txBody>
      </p:sp>
      <p:sp>
        <p:nvSpPr>
          <p:cNvPr id="24" name="Step 5"/>
          <p:cNvSpPr/>
          <p:nvPr/>
        </p:nvSpPr>
        <p:spPr>
          <a:xfrm>
            <a:off x="9491472" y="2688336"/>
            <a:ext cx="2029968" cy="3108960"/>
          </a:xfrm>
          <a:prstGeom prst="roundRect">
            <a:avLst>
              <a:gd name="adj" fmla="val 540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Letter disc"/>
          <p:cNvSpPr/>
          <p:nvPr/>
        </p:nvSpPr>
        <p:spPr>
          <a:xfrm>
            <a:off x="9720072" y="291693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20072" y="2916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EVALUATE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4059936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Self-worth shouldn’t depend on outside validation.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Worked example from Article 1, Yousif Omar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360° 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far do we agree?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Praise is a trap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Praise is natural</a:t>
            </a:r>
            <a:endParaRPr lang="en-US" sz="1800" dirty="0"/>
          </a:p>
        </p:txBody>
      </p:sp>
      <p:sp>
        <p:nvSpPr>
          <p:cNvPr id="6" name="Axis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Star"/>
          <p:cNvSpPr/>
          <p:nvPr/>
        </p:nvSpPr>
        <p:spPr>
          <a:xfrm>
            <a:off x="1737360" y="2423160"/>
            <a:ext cx="548640" cy="54864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Yousif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Chasing digital approval drains attention and productivity.</a:t>
            </a:r>
            <a:endParaRPr lang="en-US" sz="1500" dirty="0"/>
          </a:p>
        </p:txBody>
      </p:sp>
      <p:sp>
        <p:nvSpPr>
          <p:cNvPr id="10" name="Star"/>
          <p:cNvSpPr/>
          <p:nvPr/>
        </p:nvSpPr>
        <p:spPr>
          <a:xfrm>
            <a:off x="4453128" y="2423160"/>
            <a:ext cx="548640" cy="54864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Yehia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749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Comparing and impressing keeps us from what matters.</a:t>
            </a:r>
            <a:endParaRPr lang="en-US" sz="1500" dirty="0"/>
          </a:p>
        </p:txBody>
      </p:sp>
      <p:sp>
        <p:nvSpPr>
          <p:cNvPr id="13" name="Star"/>
          <p:cNvSpPr/>
          <p:nvPr/>
        </p:nvSpPr>
        <p:spPr>
          <a:xfrm>
            <a:off x="7168896" y="2423160"/>
            <a:ext cx="548640" cy="54864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Maher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3749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Praise helps, until self-worth depends on it.</a:t>
            </a:r>
            <a:endParaRPr lang="en-US" sz="1500" dirty="0"/>
          </a:p>
        </p:txBody>
      </p:sp>
      <p:sp>
        <p:nvSpPr>
          <p:cNvPr id="16" name="Star"/>
          <p:cNvSpPr/>
          <p:nvPr/>
        </p:nvSpPr>
        <p:spPr>
          <a:xfrm>
            <a:off x="9884664" y="2423160"/>
            <a:ext cx="548640" cy="548640"/>
          </a:xfrm>
          <a:prstGeom prst="star4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24544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Ammar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3749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little approval is human; clout-chasing is the trap.</a:t>
            </a:r>
            <a:endParaRPr lang="en-US" sz="1500" dirty="0"/>
          </a:p>
        </p:txBody>
      </p:sp>
      <p:sp>
        <p:nvSpPr>
          <p:cNvPr id="19" name="Shared ground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Shared ground: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every article warns that living only for approval is a trap.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WEBSITE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Read it, then hear it</a:t>
            </a:r>
            <a:endParaRPr lang="en-US" sz="3600" dirty="0"/>
          </a:p>
        </p:txBody>
      </p:sp>
      <p:sp>
        <p:nvSpPr>
          <p:cNvPr id="4" name="Stat 1"/>
          <p:cNvSpPr/>
          <p:nvPr/>
        </p:nvSpPr>
        <p:spPr>
          <a:xfrm>
            <a:off x="640080" y="1737360"/>
            <a:ext cx="3447288" cy="246888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articles in one edition</a:t>
            </a:r>
            <a:endParaRPr lang="en-US" sz="1800" dirty="0"/>
          </a:p>
        </p:txBody>
      </p:sp>
      <p:sp>
        <p:nvSpPr>
          <p:cNvPr id="7" name="Stat 2"/>
          <p:cNvSpPr/>
          <p:nvPr/>
        </p:nvSpPr>
        <p:spPr>
          <a:xfrm>
            <a:off x="4361688" y="1737360"/>
            <a:ext cx="3447288" cy="246888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81728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recorded voices</a:t>
            </a:r>
            <a:endParaRPr lang="en-US" sz="1800" dirty="0"/>
          </a:p>
        </p:txBody>
      </p:sp>
      <p:sp>
        <p:nvSpPr>
          <p:cNvPr id="10" name="Stat 3"/>
          <p:cNvSpPr/>
          <p:nvPr/>
        </p:nvSpPr>
        <p:spPr>
          <a:xfrm>
            <a:off x="8083296" y="1737360"/>
            <a:ext cx="3447288" cy="246888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page to read and listen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720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play and each recorded article highlights word by word as it is read, so you can follow along. More voices coming soon.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ACKNOWLEDGEMENTS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Sources and contributions</a:t>
            </a:r>
            <a:endParaRPr lang="en-US" sz="3600" dirty="0"/>
          </a:p>
        </p:txBody>
      </p:sp>
      <p:sp>
        <p:nvSpPr>
          <p:cNvPr id="4" name="Sources card"/>
          <p:cNvSpPr/>
          <p:nvPr/>
        </p:nvSpPr>
        <p:spPr>
          <a:xfrm>
            <a:off x="640080" y="1737360"/>
            <a:ext cx="4846320" cy="3749040"/>
          </a:xfrm>
          <a:prstGeom prst="roundRect">
            <a:avLst>
              <a:gd name="adj" fmla="val 292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SOURCES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Little Prince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Antoine de Saint-Exupéry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Psychological Association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480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Research on praise and mental health, used in Article 4</a:t>
            </a:r>
            <a:endParaRPr lang="en-US" sz="1600" dirty="0"/>
          </a:p>
        </p:txBody>
      </p:sp>
      <p:sp>
        <p:nvSpPr>
          <p:cNvPr id="10" name="Contribution 1"/>
          <p:cNvSpPr/>
          <p:nvPr/>
        </p:nvSpPr>
        <p:spPr>
          <a:xfrm>
            <a:off x="5760720" y="1737360"/>
            <a:ext cx="5760720" cy="6583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3504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Yousif Omar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7373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Article 1 · The modern problem</a:t>
            </a:r>
            <a:endParaRPr lang="en-US" sz="1300" dirty="0"/>
          </a:p>
        </p:txBody>
      </p:sp>
      <p:sp>
        <p:nvSpPr>
          <p:cNvPr id="13" name="Contribution 2"/>
          <p:cNvSpPr/>
          <p:nvPr/>
        </p:nvSpPr>
        <p:spPr>
          <a:xfrm>
            <a:off x="5760720" y="2505456"/>
            <a:ext cx="5760720" cy="6583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35040" y="250545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Maher Shareef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0545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Article 2 · The author’s criticism</a:t>
            </a:r>
            <a:endParaRPr lang="en-US" sz="1300" dirty="0"/>
          </a:p>
        </p:txBody>
      </p:sp>
      <p:sp>
        <p:nvSpPr>
          <p:cNvPr id="16" name="Contribution 3"/>
          <p:cNvSpPr/>
          <p:nvPr/>
        </p:nvSpPr>
        <p:spPr>
          <a:xfrm>
            <a:off x="5760720" y="3273552"/>
            <a:ext cx="5760720" cy="6583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35040" y="32735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Yehia Islam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735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Article 3 · The psychological trap</a:t>
            </a:r>
            <a:endParaRPr lang="en-US" sz="1300" dirty="0"/>
          </a:p>
        </p:txBody>
      </p:sp>
      <p:sp>
        <p:nvSpPr>
          <p:cNvPr id="19" name="Contribution 4"/>
          <p:cNvSpPr/>
          <p:nvPr/>
        </p:nvSpPr>
        <p:spPr>
          <a:xfrm>
            <a:off x="5760720" y="4041648"/>
            <a:ext cx="5760720" cy="6583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035040" y="40416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Ammar Rabie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0416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Article 4 · The counter-perspective</a:t>
            </a:r>
            <a:endParaRPr lang="en-US" sz="1300" dirty="0"/>
          </a:p>
        </p:txBody>
      </p:sp>
      <p:sp>
        <p:nvSpPr>
          <p:cNvPr id="22" name="Contribution 5"/>
          <p:cNvSpPr/>
          <p:nvPr/>
        </p:nvSpPr>
        <p:spPr>
          <a:xfrm>
            <a:off x="5760720" y="4809744"/>
            <a:ext cx="5760720" cy="6583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035040" y="48097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Salman Ahmad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80974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Article 5 · The future roadmap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i="1" dirty="0">
                <a:solidFill>
                  <a:schemeClr val="bg1"/>
                </a:solidFill>
              </a:rPr>
              <a:t>“Seeing the world through the heart rather than the eyes.”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YOUSIF OMAR  ·  ARTICLE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Intergalactic Gazette  ·  Ammar Rabie, Yehia Islam, Yousif Omar, Maher Shareef, Salman Ahmad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galactic Gazette">
  <a:themeElements>
    <a:clrScheme name="Intergalactic Gazette">
      <a:dk1>
        <a:srgbClr val="070B22"/>
      </a:dk1>
      <a:lt1>
        <a:srgbClr val="F6EFE0"/>
      </a:lt1>
      <a:dk2>
        <a:srgbClr val="0D1540"/>
      </a:dk2>
      <a:lt2>
        <a:srgbClr val="A8AED4"/>
      </a:lt2>
      <a:accent1>
        <a:srgbClr val="F4C95D"/>
      </a:accent1>
      <a:accent2>
        <a:srgbClr val="FF8A7A"/>
      </a:accent2>
      <a:accent3>
        <a:srgbClr val="7DE0D0"/>
      </a:accent3>
      <a:accent4>
        <a:srgbClr val="1A2766"/>
      </a:accent4>
      <a:accent5>
        <a:srgbClr val="7F88BD"/>
      </a:accent5>
      <a:accent6>
        <a:srgbClr val="2A3680"/>
      </a:accent6>
      <a:hlink>
        <a:srgbClr val="7DE0D0"/>
      </a:hlink>
      <a:folHlink>
        <a:srgbClr val="A8AED4"/>
      </a:folHlink>
    </a:clrScheme>
    <a:fontScheme name="Intergalactic Gazet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Intergalactic Gazette — Social Approval</dc:title>
  <dc:subject>PptxGenJS Presentation</dc:subject>
  <dc:creator>Ammar Rabie, Yehia Islam, Yousif Omar, Maher Shareef, Salman Ahmad</dc:creator>
  <cp:lastModifiedBy>Ammar Rabie, Yehia Islam, Yousif Omar, Maher Shareef, Salman Ahmad</cp:lastModifiedBy>
  <cp:revision>1</cp:revision>
  <dcterms:created xsi:type="dcterms:W3CDTF">2026-10-30T12:08:40Z</dcterms:created>
  <dcterms:modified xsi:type="dcterms:W3CDTF">2026-10-30T12:08:40Z</dcterms:modified>
</cp:coreProperties>
</file>